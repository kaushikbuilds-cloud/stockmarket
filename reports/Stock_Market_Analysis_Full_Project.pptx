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Cambria"/>
              </a:rPr>
              <a:t>R² by Model — AAPL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on AAPL (held-out test set)</c:v>
                </c:pt>
              </c:strCache>
            </c:strRef>
          </c:tx>
          <c:spPr>
            <a:solidFill>
              <a:srgbClr val="5B666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6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3B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6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6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  <c:pt idx="4">
                    <c:v>SVR
(linear)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0.9379</c:v>
                </c:pt>
                <c:pt idx="1">
                  <c:v>-0.0421</c:v>
                </c:pt>
                <c:pt idx="2">
                  <c:v>0.0921</c:v>
                </c:pt>
                <c:pt idx="3">
                  <c:v>0.192</c:v>
                </c:pt>
                <c:pt idx="4">
                  <c:v>0.9967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B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Cambria"/>
              </a:rPr>
              <a:t>Best-Model R² by Ticker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(best model per ticker)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AAPL</c:v>
                  </c:pt>
                  <c:pt idx="1">
                    <c:v>MSFT</c:v>
                  </c:pt>
                  <c:pt idx="2">
                    <c:v>GOOG</c:v>
                  </c:pt>
                  <c:pt idx="3">
                    <c:v>NFLX</c:v>
                  </c:pt>
                  <c:pt idx="4">
                    <c:v>RELIANCE.NS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0.9967</c:v>
                </c:pt>
                <c:pt idx="1">
                  <c:v>0.9942</c:v>
                </c:pt>
                <c:pt idx="2">
                  <c:v>0.9986</c:v>
                </c:pt>
                <c:pt idx="3">
                  <c:v>0.9924</c:v>
                </c:pt>
                <c:pt idx="4">
                  <c:v>0.9917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8"/>
        </c:scaling>
        <c:delete val="0"/>
        <c:axPos val="l"/>
        <c:majorGridlines>
          <c:spPr>
            <a:ln w="9525" cap="flat">
              <a:solidFill>
                <a:srgbClr val="D8DB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DATA SCIENCE MICRO-PROJECT   ·   CRISP-DM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Market Analysis &amp;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Prediction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FAA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Data Science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074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yfinance (live)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507492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5074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dataset (5,865 tickers)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507492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5074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ML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0" y="507492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5074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8-page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·  pandas  ·  scikit-learn  ·  Streamlit  ·  yfinance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675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stock market data pulled from a live API, then build a complete data-science workflow around it — cleaning, feature engineering, exploratory analysis, machine learning, evaluation, prediction, and an interactive dashboard — organized end-to-end around the CRISP-DM lifecycle.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52360" y="16916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764792"/>
            <a:ext cx="1188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869680" y="1764792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tickers,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symbol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52360" y="2788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862072"/>
            <a:ext cx="1188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869680" y="2862072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38862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959352"/>
            <a:ext cx="1188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869680" y="3959352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49834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5056632"/>
            <a:ext cx="1188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869680" y="5056632"/>
            <a:ext cx="26517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&amp; tuned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CRISP-DM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Six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69164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goal: predict closing price from OHLCV + indicators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64040" y="1691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 / this deck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23744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45059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245059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daily OHLCV data for any ticker, live or offline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64040" y="245059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data_collection.py · bulk_analysis.py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20954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320954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(missing/dupes/outliers), then engineer 20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64040" y="320954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preprocessing.py · feature_engineering.py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68496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51960" y="3968496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5 regressors, auto-select the best by R²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64040" y="396849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72744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51960" y="4727448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MAE/MSE/RMSE/R² table + 3 diagnostic plots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64040" y="472744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468112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559552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54864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51960" y="548640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prices; serve via interactive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64040" y="54864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predict.py · app.py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Chosen for the Job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· numpy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math, resampling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Yahoo Finance OHLCV, any ticker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764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bulk 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5,865 stocks + 2,147 ETFs, offline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16568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21" name="Text 19"/>
          <p:cNvSpPr/>
          <p:nvPr/>
        </p:nvSpPr>
        <p:spPr>
          <a:xfrm>
            <a:off x="91165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1656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 · matplotlib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1656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interactive + static charts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regressors, GridSearchCV, TimeSeriesSplit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872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3872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3872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persisted per ticker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2764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2764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8-page interactive dashboard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3995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4EBE8"/>
          </a:solidFill>
          <a:ln/>
        </p:spPr>
      </p:sp>
      <p:sp>
        <p:nvSpPr>
          <p:cNvPr id="41" name="Text 39"/>
          <p:cNvSpPr/>
          <p:nvPr/>
        </p:nvSpPr>
        <p:spPr>
          <a:xfrm>
            <a:off x="911656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1656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1656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Type-hinted, logged, modular src/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Interchangeable Data Sources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produce the identical schema: Date, Open, High, Low, Close, Adj Close, Volume.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— yfinance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ticker Yahoo Finance recognizes: AAPL, MSFT, TSLA, or international symbols like RELIANCE.NS. Fetches 1–10 years ending today.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3891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src.data_collection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--ticker AAPL --years 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488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— Kaggle Snapshot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jacksoncrow/stock-market-dataset: 5,865 stock + 2,147 ETF CSVs, frozen at 2020-04-01. No network needed — reproducible grading, and enables cross-sectional analysis across thousands of tickers.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425196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3891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src.data_collection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--ticker NFLX --years 5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--source offline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mode, --source auto, tries yfinance first and silently falls back to the offline copy if the network call fails.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Raw Feed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then back-fill — correct for prices: carry the last known value forward.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62432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62432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by Date, keeping the first occurrence.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46557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Dtypes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346557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datetime; OHLCV → numeric, coercing anything unparseable to NaN.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30682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sort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77640" y="4306824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 rolling-window feature or train/test split makes sense.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9320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14807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flagging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5148072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on Close (1.5× IQR). We flag, not drop — a crash is real data, not noise.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20 Columns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80560" y="13716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Return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6916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pct_change(Close) × 100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MA_20 / 50 / 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2402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mean of Close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7889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20-day rolling std of Daily Return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Price_Diff / HL_Spread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3375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Close.diff()  ·  High − Low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86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RSI (14)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3886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100 − 100/(1+avg gain÷avg loss); neutral=50 on flat windows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0740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MACD / Signal / Hist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4348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EMA(12)−EMA(26); signal=EMA(9) of MACD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83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Bollinger Bands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9834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20-day MA ± 2× rolling std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50468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532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Close_Lag_1/2/3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55321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shifted 1/2/3 days — autoregressive memory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6053328"/>
            <a:ext cx="1106424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6263640"/>
            <a:ext cx="11064240" cy="91"/>
          </a:xfrm>
          <a:prstGeom prst="round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engineered columns, all on top of raw OHLCV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04–05 · EDA &amp;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Charts, Per Ticker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price trend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0632" y="17373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07792" y="208483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2624" y="17373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9784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9784" y="208483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14616" y="17373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51776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51776" y="208483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comparison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36608" y="17373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3768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73768" y="208483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(30/70 lines)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70632" y="27432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07792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92624" y="27432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9784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9784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14616" y="27432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51776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histogram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36608" y="274320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3768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73768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box plot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74904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0965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70632" y="374904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07792" y="40965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avg close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92624" y="374904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9784" y="40965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gain/loss days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14616" y="374904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51776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51776" y="40965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436608" y="374904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73768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573768" y="409651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4EBE8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point: near-zero autocorrelation across lags is the textbook signature of the weak-form efficient-market hypothesis — a real statistical result, not just a chart.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Auto-Tuned &amp;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Close. Split: 80/20, chronological — no shuffling. The model is always tested on days it has never seen.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8056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196596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hyperparameters to tune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68122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∈ {3,5,10,None}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68122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n_estimators, max_depth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10128"/>
            <a:ext cx="68122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375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33375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33756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n_estimators, learning_rate, max_depth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67328"/>
            <a:ext cx="68122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9476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SVR (linear kernel)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74720" y="379476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379476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Target-scaled via TransformedTargetRegressor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24528"/>
            <a:ext cx="68122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graphicFrame>
        <p:nvGraphicFramePr>
          <p:cNvPr id="28" name="Chart 0" descr=""/>
          <p:cNvGraphicFramePr/>
          <p:nvPr/>
        </p:nvGraphicFramePr>
        <p:xfrm>
          <a:off x="7589520" y="1691640"/>
          <a:ext cx="4114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GridSearchCV over TimeSeriesSplit — inner folds never peek at the future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 BUG WE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Trees (and the Wrong Kernel) Can't Extrapolate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RBF-kernel SVR can't predict a price higher than any it saw during training. On a trending stock, tested on the highest prices it has ever seen, that's fatal.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a linear kernel (which can extrapolate along its fitted line) turned it into the best model on AAPL — and explains why plain Linear Regression often beats Random Forest here too: trees split the feature space into regions seen in training and simply plateau outside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7333F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RBF KERNEL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18120" y="2103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3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−2.61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81812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worse than predicting the mean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36118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7333F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LINEAR KERNEL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4069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0.9967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818120" y="4983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best of all 5 models on AAPL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&amp; Diagnostic Plots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$ error — easiest to explain out loud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20440" y="235915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— penalizes big misses harder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35915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price, directly comparable to MAE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98280" y="235915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price variance explained — our model-selection metric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diagnostic plots, per ticker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096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40965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hugging the diagonal = good fit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7823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plot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47823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look like random noise around zero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5468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error over 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54681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lines across the test period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Beyond a Single 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 prediction just feeds the model the most recent row's features. Multi-day forecasting is harder — the model needs tomorrow's Open/High/Low/Volume, which don't exist yet.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tomorrow's Close from today's features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2697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88036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8404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Open ≈ that Close; High/Low ≈ ±1%; Volume holds its recent average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88036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(MA, RSI, MACD, Bollinger, lags) is recalculated on the extended series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15400" y="2697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2880360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9828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98280" y="38404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forward one day at a time, up to the requested horizon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4EBE8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upfront about this in the viva: this is explicitly an educational approximation, not a production forecasting method — say so before anyone asks.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Dashboard — 8 Pages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cards, price trend, volume, MA overlay, CSV export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842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Analysis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3872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Date-range-filtered interactive OHLCV charts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19842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Indicators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2764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Candlestick, Bollinger, RSI, MACD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78308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16568" y="198424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1" name="Text 19"/>
          <p:cNvSpPr/>
          <p:nvPr/>
        </p:nvSpPr>
        <p:spPr>
          <a:xfrm>
            <a:off x="911656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16568" y="25603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16568" y="29535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distributions, correlation, volatility, autocorrelation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slider + button, history-vs-forecast chart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8728" y="399592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3872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3872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table, tuned hyperparameters, diagnostic plots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399592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2764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Tickers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2764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Multi-ticker normalized overlay + summary table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15400" y="37947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3995928"/>
            <a:ext cx="457200" cy="457200"/>
          </a:xfrm>
          <a:prstGeom prst="ellipse">
            <a:avLst/>
          </a:prstGeom>
          <a:solidFill>
            <a:srgbClr val="1F4B46"/>
          </a:solidFill>
          <a:ln/>
        </p:spPr>
      </p:sp>
      <p:sp>
        <p:nvSpPr>
          <p:cNvPr id="41" name="Text 39"/>
          <p:cNvSpPr/>
          <p:nvPr/>
        </p:nvSpPr>
        <p:spPr>
          <a:xfrm>
            <a:off x="911656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116568" y="457200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Overview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16568" y="496519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view of the entire offline dataset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 apply everywhere: ticker, years, data source, date-range filter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· OFFLINE BULK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Data-Quality Bugs We Caught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Kaggle's jacksoncrow/stock-market-dataset (5,865 stocks, 2,147 ETFs, ending 2020-04-01) lets us ask questions no single live ticker can answer — but real-world data has real-world problems.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273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CORRUPTED PRICES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legacy tickers (e.g. NVO) have Adj Close values that underflow to ~1e-9, even briefly negative, after 40+ years of split back-adjustment.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4709160" cy="1554480"/>
          </a:xfrm>
          <a:prstGeom prst="roundRect">
            <a:avLst>
              <a:gd name="adj" fmla="val 3529"/>
            </a:avLst>
          </a:prstGeom>
          <a:solidFill>
            <a:srgbClr val="1B243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4805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filter out any price below a minimum valid threshold before computing statistics.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27333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6060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UNFAIR RANKING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total return isn't comparable across tickers whose histories span 5 years vs 58 years — one blue chip trivially “wins” on compounding alone.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4297680"/>
            <a:ext cx="4709160" cy="1554480"/>
          </a:xfrm>
          <a:prstGeom prst="roundRect">
            <a:avLst>
              <a:gd name="adj" fmla="val 3529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4805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rank by CAGR (annualized return) instead — the statistically correct normalization for uneven holding periods.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Numbers From Development Runs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19456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AAPL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(linear)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0.9967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65836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514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3192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(linear)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0.9942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65836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(linear)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3017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0.9986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65836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NFLX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520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(Kaggle)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0.9924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995928"/>
            <a:ext cx="65836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RELIANCE.NS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3192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26480" y="4023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0.9917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498848"/>
            <a:ext cx="6583680" cy="0"/>
          </a:xfrm>
          <a:prstGeom prst="line">
            <a:avLst/>
          </a:prstGeom>
          <a:noFill/>
          <a:ln w="12700">
            <a:solidFill>
              <a:srgbClr val="D8DBD2"/>
            </a:solidFill>
            <a:prstDash val="solid"/>
          </a:ln>
        </p:spPr>
      </p:sp>
      <p:graphicFrame>
        <p:nvGraphicFramePr>
          <p:cNvPr id="33" name="Chart 0" descr=""/>
          <p:cNvGraphicFramePr/>
          <p:nvPr/>
        </p:nvGraphicFramePr>
        <p:xfrm>
          <a:off x="7452360" y="1691640"/>
          <a:ext cx="4251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548640" y="62636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6263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 +133.9% ▲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429000" y="62636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29000" y="6263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 +173.7% ▲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309360" y="62636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09360" y="6263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MSFT +44.8% ▲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Viva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always use the highest-R² model?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do, automatically — but tuning uses cross-validation (not one split) and we check residual plots, not just R², before trusting a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19202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Linear/SVR beat Random Forest so often?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split the feature space into regions seen in training and can't predict outside it; on a trending stock, linear models extrapolate, trees plateau.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2519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really predicting the future?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Single-day: close to “tomorrow looks like today plus a learned adjustment.” Multi-day: an explicit, stated simulation — not a forecasting claim.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06908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42519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data sources?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49377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is live but needs network; the offline snapshot reproduces results with zero internet and enables the Market Overview page a single ticker never could.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Analysis &amp; Price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15600" cy="2286000"/>
          </a:xfrm>
          <a:prstGeom prst="roundRect">
            <a:avLst>
              <a:gd name="adj" fmla="val 3200"/>
            </a:avLst>
          </a:prstGeom>
          <a:solidFill>
            <a:srgbClr val="27333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5740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--ticker AAPL --years 5 --forecast-days 5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ticker nobody's seen yet — download, clean, engineer, train 5 models, evaluate, forecast, all in under a minute.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Market Analysis &amp; Price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Data Science Micro-Project · Educational use, not financial advice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2026-07-24T04:03:24Z</dcterms:created>
  <dcterms:modified xsi:type="dcterms:W3CDTF">2026-07-24T04:03:24Z</dcterms:modified>
</cp:coreProperties>
</file>